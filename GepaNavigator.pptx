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 · Читает Роман (≈45 секунд)</a:t>
            </a:r>
          </a:p>
          <a:p/>
          <a:p>
            <a:r>
              <a:t>Добрый день! Мы — Роман Моисеев и Эльнар Меджидов, группа П-311. Наш проект — «ГепаНавигатор».</a:t>
            </a:r>
          </a:p>
          <a:p/>
          <a:p>
            <a:r>
              <a:t>Это модуль диспансерного наблюдения пациентов с хроническими гепатитами, который встраивается в единую государственную информационную систему здравоохранения Республики Татарстан — ГИС ЭЗ РТ.</a:t>
            </a:r>
          </a:p>
          <a:p/>
          <a:p>
            <a:r>
              <a:t>Почему эта тема? Гепатит C годами может не давать симптомов, но разрушает печень — и при этом полностью излечим. Значит, всё решает одно: вовремя ли человек попал в наблюдение и не выпал ли он из него.</a:t>
            </a:r>
          </a:p>
          <a:p/>
          <a:p>
            <a:r>
              <a:t>Роли разделены просто. Я отвечаю за продукт, клиническую логику и исследование. Эльнар — за архитектуру, интеграции и технологии Яндекса.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2 · Читает Роман (≈55 секунд)</a:t>
            </a:r>
          </a:p>
          <a:p/>
          <a:p>
            <a:r>
              <a:t>Цель проекта — повысить полноту и своевременность диспансерного наблюдения пациентов с хроническими гепатитами в Татарстане, автоматически, по клиническим рекомендациям Минздрава.</a:t>
            </a:r>
          </a:p>
          <a:p/>
          <a:p>
            <a:r>
              <a:t>Четыре задачи. Первая — автоматический регистр: пациент попадает в наблюдение по триггерам — диагноз группы B18, положительная ПЦР, данные федерального регистра. Никто не заводит списки вручную.</a:t>
            </a:r>
          </a:p>
          <a:p/>
          <a:p>
            <a:r>
              <a:t>Вторая — маршрут по клинической рекомендации: визит к инфекционисту не реже раза в полгода, анализы дважды в год, УЗИ ежегодно, а после терапии — контроль устойчивого вирусологического ответа через двенадцать недель.</a:t>
            </a:r>
          </a:p>
          <a:p/>
          <a:p>
            <a:r>
              <a:t>Третья — единое окно врача: карточка, динамика и чек-лист обследований вместо четырёх систем и Excel.</a:t>
            </a:r>
          </a:p>
          <a:p/>
          <a:p>
            <a:r>
              <a:t>Четвёртая — аналитика для региона: охват, приверженность, доля достигших УВО.</a:t>
            </a:r>
          </a:p>
          <a:p/>
          <a:p>
            <a:r>
              <a:t>Ориентиры внизу: минус сорок процентов пропущенных визитов, охват не ниже девяноста процентов, сто процентов данных структурировано в ЕГИСЗ. Эльнар, передаю слово — бизнес-модель.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3 · Читает Эльнар (≈70 секунд)</a:t>
            </a:r>
          </a:p>
          <a:p/>
          <a:p>
            <a:r>
              <a:t>Модель мы описали по Остервальдеру, с поправкой на государственный контур.</a:t>
            </a:r>
          </a:p>
          <a:p/>
          <a:p>
            <a:r>
              <a:t>Партнёры — Минздрав Татарстана как оператор системы, медицинские организации, НМИЦ фтизиопульмонологии и инфекционных заболеваний, который курирует федеральный проект по гепатиту C, и Yandex Cloud как инфраструктурный партнёр.</a:t>
            </a:r>
          </a:p>
          <a:p/>
          <a:p>
            <a:r>
              <a:t>Ключевые активности — разработка модуля, интеграции с ГИС ЭЗ РТ, ЕГИСЗ и федеральным регистром, клинические алгоритмы, обучение и поддержка врачей.</a:t>
            </a:r>
          </a:p>
          <a:p/>
          <a:p>
            <a:r>
              <a:t>Ценность формулируем отдельно для каждой стороны: врачу — «система сама показывает, кто должен прийти и что назначить»; пациенту — «меня не забыли»; министерству — охват и результат региона в реальном времени.</a:t>
            </a:r>
          </a:p>
          <a:p/>
          <a:p>
            <a:r>
              <a:t>Ресурсы — команда, облако в контуре РФ и база знаний клинических рекомендаций. Каналы — рабочее место врача, портал пациента, дашборды.</a:t>
            </a:r>
          </a:p>
          <a:p/>
          <a:p>
            <a:r>
              <a:t>Доходы: региональная лицензия или подписка, контракт на внедрение и сопровождение, затем тиражирование на другие регионы и нозологии. И экономический эффект: предотвращённые цирроз и рак печени экономят ОМС десятки миллионов рублей. Роман, что показало исследование?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4 · Читает Роман (≈65 секунд)</a:t>
            </a:r>
          </a:p>
          <a:p/>
          <a:p>
            <a:r>
              <a:t>Масштаб проблемы. В России 688 тысяч пациентов с хроническим гепатитом C по данным 2023 года. В 2024-м впервые выявленных случаев стало на девять процентов больше, а за 2025 год выявили более 58 тысяч — это эффект расширенного скрининга.</a:t>
            </a:r>
          </a:p>
          <a:p/>
          <a:p>
            <a:r>
              <a:t>И регион цифровизован: в ГИС ЭЗ РТ за 2024 год — более пятидесяти миллионов электронных медицинских документов.</a:t>
            </a:r>
          </a:p>
          <a:p/>
          <a:p>
            <a:r>
              <a:t>Как проверяли: клинические рекомендации и приказ номер 168н, восемь интервью с инфекционистами и три — с организаторами здравоохранения.</a:t>
            </a:r>
          </a:p>
          <a:p/>
          <a:p>
            <a:r>
              <a:t>Что услышали: списки на приём врач собирает вручную из четырёх систем и Excel, а о выпавшем пациенте узнаёт постфактум, когда тот приходит с осложнением.</a:t>
            </a:r>
          </a:p>
          <a:p/>
          <a:p>
            <a:r>
              <a:t>Главный инсайт: проблема не в отсутствии данных — они уже есть. Нет клинического слоя, который превращает их в действия.</a:t>
            </a:r>
          </a:p>
          <a:p/>
          <a:p>
            <a:r>
              <a:t>Справа — конкуренты. МИС qMS, БАРС и «Инфоклиника» умеют общее наблюдение, но специфики гепатитов не знают. ЕМИАС хорош, но в Москве. Федеральный регистр хранит факты, но не управляет маршрутом. Сочетания «маршрут по КР плюс напоминания плюс контур ГИС ЭЗ РТ» на рынке региона нет — это наша отстройка.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5 · Читает Эльнар (≈65 секунд)</a:t>
            </a:r>
          </a:p>
          <a:p/>
          <a:p>
            <a:r>
              <a:t>Технологии. Мы строимся на инструментах Яндекса.</a:t>
            </a:r>
          </a:p>
          <a:p/>
          <a:p>
            <a:r>
              <a:t>Yandex Cloud — инфраструктура в контуре РФ: вычисления, управляемая база, хранилище. Для медицины соответствие 152-ФЗ и аттестация ФСТЭК — обязательное условие, а не бонус.</a:t>
            </a:r>
          </a:p>
          <a:p/>
          <a:p>
            <a:r>
              <a:t>YandexGPT — ассистент врача: выжимка по истории, черновик заключения и подсказка, каких обследований не хватает по клинической рекомендации. Принципиально: данные заказчика не используются для обучения модели.</a:t>
            </a:r>
          </a:p>
          <a:p/>
          <a:p>
            <a:r>
              <a:t>SpeechKit — голосовой ввод прямо на приёме. Vision и OCR превращают в данные то, что осталось на бумаге. DataLens — дашборды для министерства и главврачей. Tracker и Wiki — прозрачная разработка и база знаний для региональных команд.</a:t>
            </a:r>
          </a:p>
          <a:p/>
          <a:p>
            <a:r>
              <a:t>Внизу — требования, которые для государственной системы не обсуждаются: 152-ФЗ, приказ ФСТЭК номер 21, постановление номер 1119; размещение в контуре заказчика или в облаке с изоляцией данных; сервисы Яндекса в реестре российского ПО — значит, закупка возможна по 44-ФЗ и 223-ФЗ.</a:t>
            </a:r>
          </a:p>
          <a:p/>
          <a:p>
            <a:r>
              <a:t>Спасибо! Готовы ответить на вопросы: по клинической части — Роман, по технологиям и данным — я, Эльнар.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72784" y="0"/>
            <a:ext cx="36576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C86"/>
                </a:solidFill>
                <a:latin typeface="Arial"/>
              </a:rPr>
              <a:t>МОДУЛЬ ГИС ЭЗ РТ · ДИСПАНСЕРНОЕ НАБЛЮДЕНИЕ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0E1621"/>
                </a:solidFill>
                <a:latin typeface="Arial"/>
              </a:rPr>
              <a:t>ГепаНавигатор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48256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15C68"/>
                </a:solidFill>
                <a:latin typeface="Arial"/>
              </a:rPr>
              <a:t>Цифровой модуль диспансерного наблюдения пациентов с хроническими гепатитами в единой государственной информационной системе здравоохранения Республики Татарстан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1868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0A5A62"/>
                </a:solidFill>
                <a:latin typeface="Arial"/>
              </a:rPr>
              <a:t>Гепатит C излечим — но пациент выпадает из наблюдения: данные в системе есть, а действий по ним нет.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58768"/>
            <a:ext cx="5120640" cy="10058"/>
          </a:xfrm>
          <a:prstGeom prst="rect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40416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6A1AC"/>
                </a:solidFill>
                <a:latin typeface="Arial"/>
              </a:rPr>
              <a:t>КОМАНДА · ГРУППА П-311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70832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E1621"/>
                </a:solidFill>
                <a:latin typeface="Arial"/>
              </a:rPr>
              <a:t>Моисеев Роман</a:t>
            </a:r>
            <a:r>
              <a:rPr sz="1200" b="0" i="0">
                <a:solidFill>
                  <a:srgbClr val="515C68"/>
                </a:solidFill>
                <a:latin typeface="Arial"/>
              </a:rPr>
              <a:t> — продукт, клиническая логика, исследование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621"/>
                </a:solidFill>
                <a:latin typeface="Arial"/>
              </a:rPr>
              <a:t>Меджидов Эльнар</a:t>
            </a:r>
            <a:r>
              <a:rPr sz="1200" b="0" i="0">
                <a:solidFill>
                  <a:srgbClr val="515C68"/>
                </a:solidFill>
                <a:latin typeface="Arial"/>
              </a:rPr>
              <a:t> — архитектура, интеграции, технологии Яндекса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5099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15C68"/>
                </a:solidFill>
                <a:latin typeface="Arial"/>
              </a:rPr>
              <a:t>Цель — чтобы врач видел, кто должен прийти и что назначить, а пациент не выпадал из наблюдения.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6A1AC"/>
                </a:solidFill>
                <a:latin typeface="Arial"/>
              </a:rPr>
              <a:t>Защита проекта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6419088"/>
            <a:ext cx="7589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6A1AC"/>
                </a:solidFill>
                <a:latin typeface="Arial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C86"/>
                </a:solidFill>
                <a:latin typeface="Arial"/>
              </a:rPr>
              <a:t>ЦЕЛИ ПРОЕКТА · ЗАДАЧИ И ОРИЕНТИРЫ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10543032" cy="10058"/>
          </a:xfrm>
          <a:prstGeom prst="rect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621"/>
                </a:solidFill>
                <a:latin typeface="Arial"/>
              </a:rPr>
              <a:t>Чтобы ни один пациент не выпал из наблюдения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43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5C68"/>
                </a:solidFill>
                <a:latin typeface="Arial"/>
              </a:rPr>
              <a:t>Повысить полноту и своевременность диспансерного наблюдения пациентов с хроническими гепатитами в Республике Татарстан — автоматически, по клиническим рекомендациям Минздрава.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2907792" cy="1545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32004" cy="1545336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060704" y="2167128"/>
            <a:ext cx="292608" cy="292608"/>
          </a:xfrm>
          <a:prstGeom prst="ellipse">
            <a:avLst/>
          </a:prstGeom>
          <a:solidFill>
            <a:srgbClr val="FA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5A4E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30552"/>
            <a:ext cx="204825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0E1621"/>
                </a:solidFill>
                <a:latin typeface="Arial"/>
              </a:rPr>
              <a:t>Автоматический регистр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752344"/>
            <a:ext cx="246888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515C68"/>
                </a:solidFill>
                <a:latin typeface="Arial"/>
              </a:rPr>
              <a:t>Пациент попадает в наблюдение по триггерам: диагноз группы B18, положительная ПЦР, данные федерального регистра гепатитов.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58768" y="1965960"/>
            <a:ext cx="2907792" cy="1545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858768" y="1965960"/>
            <a:ext cx="32004" cy="1545336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096511" y="2167128"/>
            <a:ext cx="292608" cy="292608"/>
          </a:xfrm>
          <a:prstGeom prst="ellipse">
            <a:avLst/>
          </a:prstGeom>
          <a:solidFill>
            <a:srgbClr val="FA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5A4E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130552"/>
            <a:ext cx="204825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0E1621"/>
                </a:solidFill>
                <a:latin typeface="Arial"/>
              </a:rPr>
              <a:t>Маршрут по клиническим рекомендациям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2752344"/>
            <a:ext cx="246888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515C68"/>
                </a:solidFill>
                <a:latin typeface="Arial"/>
              </a:rPr>
              <a:t>Визит к инфекционисту — раз в 6 месяцев, анализы — 2 раза в год, УЗИ — ежегодно, контроль УВО — через 12 недель после терапии.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639312"/>
            <a:ext cx="2907792" cy="1545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22960" y="3639312"/>
            <a:ext cx="32004" cy="1545336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060704" y="3840480"/>
            <a:ext cx="292608" cy="292608"/>
          </a:xfrm>
          <a:prstGeom prst="ellipse">
            <a:avLst/>
          </a:prstGeom>
          <a:solidFill>
            <a:srgbClr val="FA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5A4E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803904"/>
            <a:ext cx="204825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0E1621"/>
                </a:solidFill>
                <a:latin typeface="Arial"/>
              </a:rPr>
              <a:t>Одно окно для врача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" y="4425696"/>
            <a:ext cx="246888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515C68"/>
                </a:solidFill>
                <a:latin typeface="Arial"/>
              </a:rPr>
              <a:t>Карточка пациента, динамика, чек-лист обследований и готовый план приёма вместо четырёх систем и таблиц Excel.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58768" y="3639312"/>
            <a:ext cx="2907792" cy="1545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858768" y="3639312"/>
            <a:ext cx="32004" cy="1545336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096511" y="3840480"/>
            <a:ext cx="292608" cy="292608"/>
          </a:xfrm>
          <a:prstGeom prst="ellipse">
            <a:avLst/>
          </a:prstGeom>
          <a:solidFill>
            <a:srgbClr val="FA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5A4E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3803904"/>
            <a:ext cx="204825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0E1621"/>
                </a:solidFill>
                <a:latin typeface="Arial"/>
              </a:rPr>
              <a:t>Аналитика для региона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8224" y="4425696"/>
            <a:ext cx="246888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515C68"/>
                </a:solidFill>
                <a:latin typeface="Arial"/>
              </a:rPr>
              <a:t>Охват наблюдением, приверженность, доля достигших УВО и вклад региона в элиминацию гепатита C.</a:t>
            </a:r>
          </a:p>
        </p:txBody>
      </p:sp>
      <p:pic>
        <p:nvPicPr>
          <p:cNvPr id="26" name="Picture 25" descr="goals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65960"/>
            <a:ext cx="4416552" cy="265176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949440" y="4709160"/>
            <a:ext cx="4416552" cy="86868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68896" y="4873752"/>
            <a:ext cx="3977639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A5A62"/>
                </a:solidFill>
                <a:latin typeface="Arial"/>
              </a:rPr>
              <a:t>Гепатит C излечим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515C68"/>
                </a:solidFill>
                <a:latin typeface="Arial"/>
              </a:rPr>
              <a:t>Современные препараты дают устойчивый ответ — задача системы — довести пациента до него.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532120"/>
            <a:ext cx="3429000" cy="73152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22960" y="5532120"/>
            <a:ext cx="32004" cy="7315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42416" y="5641848"/>
            <a:ext cx="304495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A5A62"/>
                </a:solidFill>
                <a:latin typeface="Arial"/>
              </a:rPr>
              <a:t>−40 %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5C68"/>
                </a:solidFill>
                <a:latin typeface="Arial"/>
              </a:rPr>
              <a:t>меньше пропущенных визитов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79976" y="5532120"/>
            <a:ext cx="3429000" cy="73152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379976" y="5532120"/>
            <a:ext cx="32004" cy="7315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599432" y="5641848"/>
            <a:ext cx="304495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A5A62"/>
                </a:solidFill>
                <a:latin typeface="Arial"/>
              </a:rPr>
              <a:t>≥ 90 %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5C68"/>
                </a:solidFill>
                <a:latin typeface="Arial"/>
              </a:rPr>
              <a:t>охват диспансерным наблюдением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36992" y="5532120"/>
            <a:ext cx="3429000" cy="73152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936992" y="5532120"/>
            <a:ext cx="32004" cy="7315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56448" y="5641848"/>
            <a:ext cx="304495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A5A62"/>
                </a:solidFill>
                <a:latin typeface="Arial"/>
              </a:rPr>
              <a:t>100 %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5C68"/>
                </a:solidFill>
                <a:latin typeface="Arial"/>
              </a:rPr>
              <a:t>данных структурировано в ЕГИСЗ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41908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6A1AC"/>
                </a:solidFill>
                <a:latin typeface="Arial"/>
              </a:rPr>
              <a:t>ГепаНавигатор · группа П-311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19088"/>
            <a:ext cx="7589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6A1AC"/>
                </a:solidFill>
                <a:latin typeface="Arial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C86"/>
                </a:solidFill>
                <a:latin typeface="Arial"/>
              </a:rPr>
              <a:t>БИЗНЕС-МОДЕЛЬ · КАНВА ОСТЕРВАЛЬДЕРА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10543032" cy="10058"/>
          </a:xfrm>
          <a:prstGeom prst="rect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621"/>
                </a:solidFill>
                <a:latin typeface="Arial"/>
              </a:rPr>
              <a:t>Модель для государственного контура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43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5C68"/>
                </a:solidFill>
                <a:latin typeface="Arial"/>
              </a:rPr>
              <a:t>Мы встраиваемся в уже работающую систему региона и приносим ценность врачу, пациенту и министерству одновременно.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93392"/>
            <a:ext cx="2048256" cy="1938528"/>
          </a:xfrm>
          <a:prstGeom prst="rect">
            <a:avLst/>
          </a:prstGeom>
          <a:solidFill>
            <a:srgbClr val="FAFBFC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50976" y="2093976"/>
            <a:ext cx="179222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860" b="1" i="0">
                <a:solidFill>
                  <a:srgbClr val="0A5A62"/>
                </a:solidFill>
                <a:latin typeface="Arial"/>
              </a:rPr>
              <a:t>КЛЮЧЕВЫЕ ПАРТНЁРЫ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Минздрав РТ и оператор ГИС ЭЗ РТ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Медицинские организации республики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НМИЦ ФПИ — федеральный проект по гепатиту C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Yandex Cloud — инфраструктура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Лаборатории и центры эластометрии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93392"/>
            <a:ext cx="2048256" cy="1938528"/>
          </a:xfrm>
          <a:prstGeom prst="rect">
            <a:avLst/>
          </a:prstGeom>
          <a:solidFill>
            <a:srgbClr val="FAFBFC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072384" y="2093976"/>
            <a:ext cx="179222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860" b="1" i="0">
                <a:solidFill>
                  <a:srgbClr val="0A5A62"/>
                </a:solidFill>
                <a:latin typeface="Arial"/>
              </a:rPr>
              <a:t>КЛЮЧЕВЫЕ АКТИВНОСТИ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Разработка и развитие модуля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Интеграции: ГИС ЭЗ РТ, ЕГИСЗ, ФРВГ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Клинические алгоритмы по КР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Обучение и поддержка врачей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Мониторинг качества данных и ИБ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65776" y="1993392"/>
            <a:ext cx="2157984" cy="1938528"/>
          </a:xfrm>
          <a:prstGeom prst="rect">
            <a:avLst/>
          </a:prstGeom>
          <a:solidFill>
            <a:srgbClr val="FAFBFC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93792" y="2093976"/>
            <a:ext cx="190195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860" b="1" i="0">
                <a:solidFill>
                  <a:srgbClr val="0A5A62"/>
                </a:solidFill>
                <a:latin typeface="Arial"/>
              </a:rPr>
              <a:t>ЦЕННОСТНОЕ ПРЕДЛОЖЕНИЕ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Врачу: «система сама показывает, кто должен прийти и что назначить»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Пациенту: «меня не забыли» — напоминания, маршрут, контроль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Министерству: охват и результат региона в реальном времени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Региону: вклад в элиминацию гепатита 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6912" y="1993392"/>
            <a:ext cx="2048256" cy="1938528"/>
          </a:xfrm>
          <a:prstGeom prst="rect">
            <a:avLst/>
          </a:prstGeom>
          <a:solidFill>
            <a:srgbClr val="FAFBFC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24928" y="2093976"/>
            <a:ext cx="179222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860" b="1" i="0">
                <a:solidFill>
                  <a:srgbClr val="0A5A62"/>
                </a:solidFill>
                <a:latin typeface="Arial"/>
              </a:rPr>
              <a:t>ВЗАИМООТНОШЕНИЯ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Обучение: вебинары и инструкции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Техподдержка 24/5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Сообщество суперпользователей в МО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Релизы по обратной связи врачей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1993392"/>
            <a:ext cx="1947672" cy="1938528"/>
          </a:xfrm>
          <a:prstGeom prst="rect">
            <a:avLst/>
          </a:prstGeom>
          <a:solidFill>
            <a:srgbClr val="FAFBFC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46336" y="2093976"/>
            <a:ext cx="169163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860" b="1" i="0">
                <a:solidFill>
                  <a:srgbClr val="0A5A62"/>
                </a:solidFill>
                <a:latin typeface="Arial"/>
              </a:rPr>
              <a:t>СЕГМЕНТЫ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Врачи-инфекционисты и гастроэнтерологи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Пациенты с хроническими гепатитами РТ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Минздрав РТ и руководители МО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Федеральные программы элиминации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041648"/>
            <a:ext cx="6391656" cy="1152144"/>
          </a:xfrm>
          <a:prstGeom prst="rect">
            <a:avLst/>
          </a:prstGeom>
          <a:solidFill>
            <a:srgbClr val="FAFBFC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142232"/>
            <a:ext cx="6135624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860" b="1" i="0">
                <a:solidFill>
                  <a:srgbClr val="0A5A62"/>
                </a:solidFill>
                <a:latin typeface="Arial"/>
              </a:rPr>
              <a:t>КЛЮЧЕВЫЕ РЕСУРСЫ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Команда разработки и внедрения · облачная инфраструктура в контуре РФ: 152-ФЗ, УЗ-3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База знаний клинических рекомендаций, приказов и справочников ЕГИСЗ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ML-стек: языковые модели, распознавание речи, OCR документов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96912" y="4041648"/>
            <a:ext cx="4069080" cy="1152144"/>
          </a:xfrm>
          <a:prstGeom prst="rect">
            <a:avLst/>
          </a:prstGeom>
          <a:solidFill>
            <a:srgbClr val="FAFBFC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24928" y="4142232"/>
            <a:ext cx="3813048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860" b="1" i="0">
                <a:solidFill>
                  <a:srgbClr val="0A5A62"/>
                </a:solidFill>
                <a:latin typeface="Arial"/>
              </a:rPr>
              <a:t>КАНАЛЫ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Рабочее место врача: ГИС ЭЗ РТ · портал пациента и Госуслуги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Дашборды для Минздрава и главных врачей · портал документации и поддержки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303520"/>
            <a:ext cx="6391656" cy="950976"/>
          </a:xfrm>
          <a:prstGeom prst="rect">
            <a:avLst/>
          </a:prstGeom>
          <a:solidFill>
            <a:srgbClr val="FAFBFC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50976" y="5404104"/>
            <a:ext cx="613562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860" b="1" i="0">
                <a:solidFill>
                  <a:srgbClr val="0A5A62"/>
                </a:solidFill>
                <a:latin typeface="Arial"/>
              </a:rPr>
              <a:t>СТРУКТУРА ИЗДЕРЖЕК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Разработка и поддержка · облако и инференс моделей · интеграции и аттестация ИБ · обучение и сопровождение МО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5303520"/>
            <a:ext cx="4069080" cy="950976"/>
          </a:xfrm>
          <a:prstGeom prst="rect">
            <a:avLst/>
          </a:prstGeom>
          <a:solidFill>
            <a:srgbClr val="FAFBFC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24928" y="5404104"/>
            <a:ext cx="38130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860" b="1" i="0">
                <a:solidFill>
                  <a:srgbClr val="0A5A62"/>
                </a:solidFill>
                <a:latin typeface="Arial"/>
              </a:rPr>
              <a:t>ПОТОКИ ДОХОДОВ И ЭФФЕКТ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Региональная лицензия (подписка) · контракт на внедрение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Тиражирование в другие регионы и нозологии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60"/>
              </a:spcAft>
            </a:pPr>
            <a:r>
              <a:rPr sz="75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750" b="0" i="0">
                <a:solidFill>
                  <a:srgbClr val="515C68"/>
                </a:solidFill>
                <a:latin typeface="Arial"/>
              </a:rPr>
              <a:t>Эффект: предотвращённые цирроз и рак печени экономят ОМС десятки млн рублей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1908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6A1AC"/>
                </a:solidFill>
                <a:latin typeface="Arial"/>
              </a:rPr>
              <a:t>ГепаНавигатор · группа П-311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19088"/>
            <a:ext cx="7589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6A1AC"/>
                </a:solidFill>
                <a:latin typeface="Arial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C86"/>
                </a:solidFill>
                <a:latin typeface="Arial"/>
              </a:rPr>
              <a:t>ИССЛЕДОВАНИЕ И КОНКУРЕНТЫ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10543032" cy="10058"/>
          </a:xfrm>
          <a:prstGeom prst="rect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621"/>
                </a:solidFill>
                <a:latin typeface="Arial"/>
              </a:rPr>
              <a:t>Данные есть — не хватает клинического слоя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43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5C68"/>
                </a:solidFill>
                <a:latin typeface="Arial"/>
              </a:rPr>
              <a:t>Кабинетное исследование клинических рекомендаций и приказа № 168н, 8 глубинных интервью с инфекционистами и 3 — с организаторами здравоохранения; сравнение решений, работающих в регионах.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2551176" cy="73152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32004" cy="7315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029968"/>
            <a:ext cx="2167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A5A62"/>
                </a:solidFill>
                <a:latin typeface="Arial"/>
              </a:rPr>
              <a:t>688 307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15C68"/>
                </a:solidFill>
                <a:latin typeface="Arial"/>
              </a:rPr>
              <a:t>пациентов с гепатитом C в РФ, 2023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3864" y="1920240"/>
            <a:ext cx="2551176" cy="73152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483864" y="1920240"/>
            <a:ext cx="32004" cy="7315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03320" y="2029968"/>
            <a:ext cx="2167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A5A62"/>
                </a:solidFill>
                <a:latin typeface="Arial"/>
              </a:rPr>
              <a:t>+9,1 %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15C68"/>
                </a:solidFill>
                <a:latin typeface="Arial"/>
              </a:rPr>
              <a:t>рост впервые выявленных,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1920240"/>
            <a:ext cx="2551176" cy="73152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144768" y="1920240"/>
            <a:ext cx="32004" cy="7315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64224" y="2029968"/>
            <a:ext cx="2167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A5A62"/>
                </a:solidFill>
                <a:latin typeface="Arial"/>
              </a:rPr>
              <a:t>58 200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15C68"/>
                </a:solidFill>
                <a:latin typeface="Arial"/>
              </a:rPr>
              <a:t>выявлено за 2025 — скрининг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05672" y="1920240"/>
            <a:ext cx="2551176" cy="73152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805672" y="1920240"/>
            <a:ext cx="32004" cy="7315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25128" y="2029968"/>
            <a:ext cx="2167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A5A62"/>
                </a:solidFill>
                <a:latin typeface="Arial"/>
              </a:rPr>
              <a:t>50 млн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15C68"/>
                </a:solidFill>
                <a:latin typeface="Arial"/>
              </a:rPr>
              <a:t>меддокументов в ГИС ЭЗ РТ, 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798064"/>
            <a:ext cx="502920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42416" y="2962656"/>
            <a:ext cx="459028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1" i="0">
                <a:solidFill>
                  <a:srgbClr val="0E1621"/>
                </a:solidFill>
                <a:latin typeface="Arial"/>
              </a:rPr>
              <a:t>Что сделали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0" i="0">
                <a:solidFill>
                  <a:srgbClr val="515C68"/>
                </a:solidFill>
                <a:latin typeface="Arial"/>
              </a:rPr>
              <a:t>Клинические рекомендации и приказ № 168н; 8 интервью с инфекционистами и 3 — с организаторами здравоохранения РТ.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712463"/>
            <a:ext cx="50292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42416" y="3877055"/>
            <a:ext cx="45902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1" i="0">
                <a:solidFill>
                  <a:srgbClr val="0E1621"/>
                </a:solidFill>
                <a:latin typeface="Arial"/>
              </a:rPr>
              <a:t>Что услышали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0" i="0">
                <a:solidFill>
                  <a:srgbClr val="515C68"/>
                </a:solidFill>
                <a:latin typeface="Arial"/>
              </a:rPr>
              <a:t>Списки на приём врач собирает вручную из четырёх систем и Excel, а о выпавшем пациенте узнаёт постфактум — с осложнением.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681728"/>
            <a:ext cx="5029200" cy="1060704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24128" y="4782312"/>
            <a:ext cx="46268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A5A62"/>
                </a:solidFill>
                <a:latin typeface="Arial"/>
              </a:rPr>
              <a:t>ГЛАВНЫЙ ИНСАЙТ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15C68"/>
                </a:solidFill>
                <a:latin typeface="Arial"/>
              </a:rPr>
              <a:t>Проблема не в данных — они уже есть. Нет клинического слоя, который превращает их в действия: кто должен прийти, когда и кто уже выпал.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2798064"/>
            <a:ext cx="1755648" cy="457200"/>
          </a:xfrm>
          <a:prstGeom prst="rect">
            <a:avLst/>
          </a:prstGeom>
          <a:solidFill>
            <a:srgbClr val="E9F4F4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80759" y="2843784"/>
            <a:ext cx="15727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A5A62"/>
                </a:solidFill>
                <a:latin typeface="Arial"/>
              </a:rPr>
              <a:t>Решение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44967" y="2798064"/>
            <a:ext cx="1298448" cy="457200"/>
          </a:xfrm>
          <a:prstGeom prst="rect">
            <a:avLst/>
          </a:prstGeom>
          <a:solidFill>
            <a:srgbClr val="E9F4F4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836407" y="2843784"/>
            <a:ext cx="11155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A5A62"/>
                </a:solidFill>
                <a:latin typeface="Arial"/>
              </a:rPr>
              <a:t>Наблюдение по КР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43415" y="2798064"/>
            <a:ext cx="1024128" cy="457200"/>
          </a:xfrm>
          <a:prstGeom prst="rect">
            <a:avLst/>
          </a:prstGeom>
          <a:solidFill>
            <a:srgbClr val="E9F4F4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34855" y="2843784"/>
            <a:ext cx="8412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A5A62"/>
                </a:solidFill>
                <a:latin typeface="Arial"/>
              </a:rPr>
              <a:t>Напоминания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67543" y="2798064"/>
            <a:ext cx="1298448" cy="457200"/>
          </a:xfrm>
          <a:prstGeom prst="rect">
            <a:avLst/>
          </a:prstGeom>
          <a:solidFill>
            <a:srgbClr val="E9F4F4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158983" y="2843784"/>
            <a:ext cx="11155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A5A62"/>
                </a:solidFill>
                <a:latin typeface="Arial"/>
              </a:rPr>
              <a:t>В ГИС ЭЗ РТ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3255264"/>
            <a:ext cx="175564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080759" y="3291840"/>
            <a:ext cx="15727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E1621"/>
                </a:solidFill>
                <a:latin typeface="Arial"/>
              </a:rPr>
              <a:t>МИС qMS (СП.АРМ)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44967" y="3255264"/>
            <a:ext cx="129844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836407" y="3291840"/>
            <a:ext cx="11155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15C68"/>
                </a:solidFill>
                <a:latin typeface="Arial"/>
              </a:rPr>
              <a:t>частично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43415" y="3255264"/>
            <a:ext cx="102412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34855" y="3291840"/>
            <a:ext cx="84124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15C68"/>
                </a:solidFill>
                <a:latin typeface="Arial"/>
              </a:rPr>
              <a:t>нет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67543" y="3255264"/>
            <a:ext cx="129844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158983" y="3291840"/>
            <a:ext cx="11155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15C68"/>
                </a:solidFill>
                <a:latin typeface="Arial"/>
              </a:rPr>
              <a:t>нет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3666744"/>
            <a:ext cx="1755648" cy="411480"/>
          </a:xfrm>
          <a:prstGeom prst="rect">
            <a:avLst/>
          </a:prstGeom>
          <a:solidFill>
            <a:srgbClr val="FAFBFC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080759" y="3703320"/>
            <a:ext cx="15727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E1621"/>
                </a:solidFill>
                <a:latin typeface="Arial"/>
              </a:rPr>
              <a:t>БАРС.Здравоохранение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44967" y="3666744"/>
            <a:ext cx="1298448" cy="411480"/>
          </a:xfrm>
          <a:prstGeom prst="rect">
            <a:avLst/>
          </a:prstGeom>
          <a:solidFill>
            <a:srgbClr val="FAFBFC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836407" y="3703320"/>
            <a:ext cx="11155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15C68"/>
                </a:solidFill>
                <a:latin typeface="Arial"/>
              </a:rPr>
              <a:t>частично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43415" y="3666744"/>
            <a:ext cx="1024128" cy="411480"/>
          </a:xfrm>
          <a:prstGeom prst="rect">
            <a:avLst/>
          </a:prstGeom>
          <a:solidFill>
            <a:srgbClr val="FAFBFC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134855" y="3703320"/>
            <a:ext cx="84124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15C68"/>
                </a:solidFill>
                <a:latin typeface="Arial"/>
              </a:rPr>
              <a:t>нет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67543" y="3666744"/>
            <a:ext cx="1298448" cy="411480"/>
          </a:xfrm>
          <a:prstGeom prst="rect">
            <a:avLst/>
          </a:prstGeom>
          <a:solidFill>
            <a:srgbClr val="FAFBFC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0158983" y="3703320"/>
            <a:ext cx="11155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15C68"/>
                </a:solidFill>
                <a:latin typeface="Arial"/>
              </a:rPr>
              <a:t>через интеграцию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4078224"/>
            <a:ext cx="175564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080759" y="4114800"/>
            <a:ext cx="15727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E1621"/>
                </a:solidFill>
                <a:latin typeface="Arial"/>
              </a:rPr>
              <a:t>ЕМИАС (Москва)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44967" y="4078224"/>
            <a:ext cx="129844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836407" y="4114800"/>
            <a:ext cx="11155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15C68"/>
                </a:solidFill>
                <a:latin typeface="Arial"/>
              </a:rPr>
              <a:t>да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43415" y="4078224"/>
            <a:ext cx="102412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134855" y="4114800"/>
            <a:ext cx="84124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15C68"/>
                </a:solidFill>
                <a:latin typeface="Arial"/>
              </a:rPr>
              <a:t>да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67543" y="4078224"/>
            <a:ext cx="129844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0158983" y="4114800"/>
            <a:ext cx="11155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15C68"/>
                </a:solidFill>
                <a:latin typeface="Arial"/>
              </a:rPr>
              <a:t>нет — другой регион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4489704"/>
            <a:ext cx="1755648" cy="411480"/>
          </a:xfrm>
          <a:prstGeom prst="rect">
            <a:avLst/>
          </a:prstGeom>
          <a:solidFill>
            <a:srgbClr val="FAFBFC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080759" y="4526280"/>
            <a:ext cx="15727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E1621"/>
                </a:solidFill>
                <a:latin typeface="Arial"/>
              </a:rPr>
              <a:t>МИС «Инфоклиника»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44967" y="4489704"/>
            <a:ext cx="1298448" cy="411480"/>
          </a:xfrm>
          <a:prstGeom prst="rect">
            <a:avLst/>
          </a:prstGeom>
          <a:solidFill>
            <a:srgbClr val="FAFBFC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7836407" y="4526280"/>
            <a:ext cx="11155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15C68"/>
                </a:solidFill>
                <a:latin typeface="Arial"/>
              </a:rPr>
              <a:t>частично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43415" y="4489704"/>
            <a:ext cx="1024128" cy="411480"/>
          </a:xfrm>
          <a:prstGeom prst="rect">
            <a:avLst/>
          </a:prstGeom>
          <a:solidFill>
            <a:srgbClr val="FAFBFC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9134855" y="4526280"/>
            <a:ext cx="84124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15C68"/>
                </a:solidFill>
                <a:latin typeface="Arial"/>
              </a:rPr>
              <a:t>нет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67543" y="4489704"/>
            <a:ext cx="1298448" cy="411480"/>
          </a:xfrm>
          <a:prstGeom prst="rect">
            <a:avLst/>
          </a:prstGeom>
          <a:solidFill>
            <a:srgbClr val="FAFBFC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0158983" y="4526280"/>
            <a:ext cx="11155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15C68"/>
                </a:solidFill>
                <a:latin typeface="Arial"/>
              </a:rPr>
              <a:t>нет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89320" y="4901184"/>
            <a:ext cx="175564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080759" y="4937760"/>
            <a:ext cx="15727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E1621"/>
                </a:solidFill>
                <a:latin typeface="Arial"/>
              </a:rPr>
              <a:t>ФРВГ и Excel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44967" y="4901184"/>
            <a:ext cx="129844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7836407" y="4937760"/>
            <a:ext cx="11155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15C68"/>
                </a:solidFill>
                <a:latin typeface="Arial"/>
              </a:rPr>
              <a:t>только учёт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43415" y="4901184"/>
            <a:ext cx="102412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134855" y="4937760"/>
            <a:ext cx="84124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15C68"/>
                </a:solidFill>
                <a:latin typeface="Arial"/>
              </a:rPr>
              <a:t>нет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067543" y="4901184"/>
            <a:ext cx="129844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10158983" y="4937760"/>
            <a:ext cx="11155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15C68"/>
                </a:solidFill>
                <a:latin typeface="Arial"/>
              </a:rPr>
              <a:t>частично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89320" y="5312664"/>
            <a:ext cx="1755648" cy="411480"/>
          </a:xfrm>
          <a:prstGeom prst="rect">
            <a:avLst/>
          </a:prstGeom>
          <a:solidFill>
            <a:srgbClr val="E9F4F4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6080759" y="5349240"/>
            <a:ext cx="15727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A5A62"/>
                </a:solidFill>
                <a:latin typeface="Arial"/>
              </a:rPr>
              <a:t>ГепаНавигатор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744967" y="5312664"/>
            <a:ext cx="1298448" cy="411480"/>
          </a:xfrm>
          <a:prstGeom prst="rect">
            <a:avLst/>
          </a:prstGeom>
          <a:solidFill>
            <a:srgbClr val="E9F4F4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7836407" y="5349240"/>
            <a:ext cx="11155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A5A62"/>
                </a:solidFill>
                <a:latin typeface="Arial"/>
              </a:rPr>
              <a:t>да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43415" y="5312664"/>
            <a:ext cx="1024128" cy="411480"/>
          </a:xfrm>
          <a:prstGeom prst="rect">
            <a:avLst/>
          </a:prstGeom>
          <a:solidFill>
            <a:srgbClr val="E9F4F4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9134855" y="5349240"/>
            <a:ext cx="84124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A5A62"/>
                </a:solidFill>
                <a:latin typeface="Arial"/>
              </a:rPr>
              <a:t>да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67543" y="5312664"/>
            <a:ext cx="1298448" cy="411480"/>
          </a:xfrm>
          <a:prstGeom prst="rect">
            <a:avLst/>
          </a:prstGeom>
          <a:solidFill>
            <a:srgbClr val="E9F4F4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10158983" y="5349240"/>
            <a:ext cx="11155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A5A62"/>
                </a:solidFill>
                <a:latin typeface="Arial"/>
              </a:rPr>
              <a:t>да, нативно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" y="5852160"/>
            <a:ext cx="10543032" cy="438912"/>
          </a:xfrm>
          <a:prstGeom prst="rect">
            <a:avLst/>
          </a:prstGeom>
          <a:solidFill>
            <a:srgbClr val="FA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822960" y="5852160"/>
            <a:ext cx="32004" cy="438912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1042415" y="5916168"/>
            <a:ext cx="10104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05A4E"/>
                </a:solidFill>
                <a:latin typeface="Arial"/>
              </a:rPr>
              <a:t>Наша отстройка: </a:t>
            </a:r>
            <a:r>
              <a:rPr sz="960" b="0" i="0">
                <a:solidFill>
                  <a:srgbClr val="515C68"/>
                </a:solidFill>
                <a:latin typeface="Arial"/>
              </a:rPr>
              <a:t>клинический слой по гепатитам внутри системы, которая уже работает в регионе — маршрут по КР, напоминания пациенту и готовые данные для министерства.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" y="641908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6A1AC"/>
                </a:solidFill>
                <a:latin typeface="Arial"/>
              </a:rPr>
              <a:t>ГепаНавигатор · группа П-311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07040" y="6419088"/>
            <a:ext cx="7589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6A1AC"/>
                </a:solidFill>
                <a:latin typeface="Arial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C86"/>
                </a:solidFill>
                <a:latin typeface="Arial"/>
              </a:rPr>
              <a:t>ТЕХНОЛОГИИ · ИНСТРУМЕНТЫ ЯНДЕКСА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10543032" cy="10058"/>
          </a:xfrm>
          <a:prstGeom prst="rect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621"/>
                </a:solidFill>
                <a:latin typeface="Arial"/>
              </a:rPr>
              <a:t>Платформа, на которой строится модуль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43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5C68"/>
                </a:solidFill>
                <a:latin typeface="Arial"/>
              </a:rPr>
              <a:t>Все сервисы работают в российском контуре: данные не покидают территорию РФ, доступны облачный и on-premise варианты.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42416" y="2130552"/>
            <a:ext cx="2990088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140" b="1" i="0">
                <a:solidFill>
                  <a:srgbClr val="0E1621"/>
                </a:solidFill>
                <a:latin typeface="Arial"/>
              </a:rPr>
              <a:t>Yandex Cloud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50"/>
              </a:spcAft>
            </a:pPr>
            <a:r>
              <a:rPr sz="940" b="0" i="0">
                <a:solidFill>
                  <a:srgbClr val="515C68"/>
                </a:solidFill>
                <a:latin typeface="Arial"/>
              </a:rPr>
              <a:t>Инфраструктура в контуре РФ: вычисления, управляемая БД, объектное хранилище. 152-ФЗ, аттестация ФСТЭК, реестр росПО.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9976" y="196596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99432" y="2130552"/>
            <a:ext cx="2990088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140" b="1" i="0">
                <a:solidFill>
                  <a:srgbClr val="0E1621"/>
                </a:solidFill>
                <a:latin typeface="Arial"/>
              </a:rPr>
              <a:t>YandexGPT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50"/>
              </a:spcAft>
            </a:pPr>
            <a:r>
              <a:rPr sz="940" b="0" i="0">
                <a:solidFill>
                  <a:srgbClr val="515C68"/>
                </a:solidFill>
                <a:latin typeface="Arial"/>
              </a:rPr>
              <a:t>Ассистент врача: выжимка истории, черновик заключения, подсказка недостающих обследований по КР. Данные заказчика не идут на обучение.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36992" y="196596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56448" y="2130552"/>
            <a:ext cx="2990088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140" b="1" i="0">
                <a:solidFill>
                  <a:srgbClr val="0E1621"/>
                </a:solidFill>
                <a:latin typeface="Arial"/>
              </a:rPr>
              <a:t>Yandex SpeechKit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50"/>
              </a:spcAft>
            </a:pPr>
            <a:r>
              <a:rPr sz="940" b="0" i="0">
                <a:solidFill>
                  <a:srgbClr val="515C68"/>
                </a:solidFill>
                <a:latin typeface="Arial"/>
              </a:rPr>
              <a:t>Голосовой ввод заключений прямо на приёме: врач говорит — система структурирует. Модели адаптированы к медицинской лексике.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47288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42416" y="3611880"/>
            <a:ext cx="2990088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140" b="1" i="0">
                <a:solidFill>
                  <a:srgbClr val="0E1621"/>
                </a:solidFill>
                <a:latin typeface="Arial"/>
              </a:rPr>
              <a:t>Yandex Vision и OCR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50"/>
              </a:spcAft>
            </a:pPr>
            <a:r>
              <a:rPr sz="940" b="0" i="0">
                <a:solidFill>
                  <a:srgbClr val="515C68"/>
                </a:solidFill>
                <a:latin typeface="Arial"/>
              </a:rPr>
              <a:t>Бумажные анализы, выписки и архивные документы превращаются в структурированные данные электронной карты.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9976" y="3447288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99432" y="3611880"/>
            <a:ext cx="2990088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140" b="1" i="0">
                <a:solidFill>
                  <a:srgbClr val="0E1621"/>
                </a:solidFill>
                <a:latin typeface="Arial"/>
              </a:rPr>
              <a:t>Yandex DataLens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50"/>
              </a:spcAft>
            </a:pPr>
            <a:r>
              <a:rPr sz="940" b="0" i="0">
                <a:solidFill>
                  <a:srgbClr val="515C68"/>
                </a:solidFill>
                <a:latin typeface="Arial"/>
              </a:rPr>
              <a:t>Дашборды для министерства и главврачей: охват наблюдением, приверженность, УВО, нагрузка на специалистов.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36992" y="3447288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56448" y="3611880"/>
            <a:ext cx="2990088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140" b="1" i="0">
                <a:solidFill>
                  <a:srgbClr val="0E1621"/>
                </a:solidFill>
                <a:latin typeface="Arial"/>
              </a:rPr>
              <a:t>Yandex Tracker и Wiki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50"/>
              </a:spcAft>
            </a:pPr>
            <a:r>
              <a:rPr sz="940" b="0" i="0">
                <a:solidFill>
                  <a:srgbClr val="515C68"/>
                </a:solidFill>
                <a:latin typeface="Arial"/>
              </a:rPr>
              <a:t>Прозрачная разработка и релизы, единая база знаний для региональных команд сопровождения.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983480"/>
            <a:ext cx="6035040" cy="1234440"/>
          </a:xfrm>
          <a:prstGeom prst="rect">
            <a:avLst/>
          </a:prstGeom>
          <a:solidFill>
            <a:srgbClr val="FAFBFC"/>
          </a:solidFill>
          <a:ln w="9525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42415" y="5084064"/>
            <a:ext cx="5596128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A5A62"/>
                </a:solidFill>
                <a:latin typeface="Arial"/>
              </a:rPr>
              <a:t>СООТВЕТСТВИЕ ТРЕБОВАНИЯМ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40"/>
              </a:spcAft>
            </a:pPr>
            <a:r>
              <a:rPr sz="84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840" b="0" i="0">
                <a:solidFill>
                  <a:srgbClr val="515C68"/>
                </a:solidFill>
                <a:latin typeface="Arial"/>
              </a:rPr>
              <a:t>152-ФЗ, приказ ФСТЭК № 21, постановление Правительства № 1119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40"/>
              </a:spcAft>
            </a:pPr>
            <a:r>
              <a:rPr sz="84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840" b="0" i="0">
                <a:solidFill>
                  <a:srgbClr val="515C68"/>
                </a:solidFill>
                <a:latin typeface="Arial"/>
              </a:rPr>
              <a:t>контур заказчика (on-premise) или облако с изоляцией данных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40"/>
              </a:spcAft>
            </a:pPr>
            <a:r>
              <a:rPr sz="840" b="0" i="0">
                <a:solidFill>
                  <a:srgbClr val="0E7C86"/>
                </a:solidFill>
                <a:latin typeface="Arial"/>
              </a:rPr>
              <a:t>•  </a:t>
            </a:r>
            <a:r>
              <a:rPr sz="840" b="0" i="0">
                <a:solidFill>
                  <a:srgbClr val="515C68"/>
                </a:solidFill>
                <a:latin typeface="Arial"/>
              </a:rPr>
              <a:t>сервисы Яндекса в реестре росПО — закупки по 44-ФЗ и 223-ФЗ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4983480"/>
            <a:ext cx="2971800" cy="123444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040880" y="4983480"/>
            <a:ext cx="32004" cy="1234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60336" y="5120640"/>
            <a:ext cx="256032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A5A62"/>
                </a:solidFill>
                <a:latin typeface="Arial"/>
              </a:rPr>
              <a:t>Спасибо!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15C68"/>
                </a:solidFill>
                <a:latin typeface="Arial"/>
              </a:rPr>
              <a:t>Вопросы: Роман — продукт и клиника, Эльнар — технологии и данные · П-311</a:t>
            </a:r>
          </a:p>
        </p:txBody>
      </p:sp>
      <p:pic>
        <p:nvPicPr>
          <p:cNvPr id="23" name="Picture 22" descr="tech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552" y="4983480"/>
            <a:ext cx="1234440" cy="12344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2960" y="641908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6A1AC"/>
                </a:solidFill>
                <a:latin typeface="Arial"/>
              </a:rPr>
              <a:t>ГепаНавигатор · группа П-311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19088"/>
            <a:ext cx="7589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6A1AC"/>
                </a:solidFill>
                <a:latin typeface="Arial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